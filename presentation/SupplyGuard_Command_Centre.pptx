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459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SupplyGuard is a supply chain command centre. This deck walks through the platform screen by screen: overview, disruptions, shipments, cold chain and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numbers: 5 active disruptions, 54 affected shipments, 49% fleet utilisation, 8 idle assets, 6 cold-chain alerts and 18 high or critical risks. Rows in the highest-risk table are clickable.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Cyclone Biparjoy and the JNPT strike are Active; BlueLine fleet recall (about 40% of trucks offline) and the Hormuz advisory (8 to 10 extra days via Cape of Good Hope) are in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values include ON_TIME, AT_RISK and DISRUPTED. Cold-chain shipments carry a snowflake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side panel shows origin, destination, carrier, route, priority, status, expected delay, risk score, cold-chain flag and cargo type, plus a route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Ranges differ by product: SH1014 is frozen (-18 to -15°C), SH1011 ambient (15 to 25°C), others 2 to 8°C or similar.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14E7-C3BF-F1BB-D239-75B85FC03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AEC33-6385-4898-0DA0-04469DED8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8F099D-B60E-3D4B-CCC5-E08DD5799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Ranges differ by product: SH1014 is frozen (-18 to -15°C), SH1011 ambient (15 to 25°C), others 2 to 8°C or similar.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DC162-8960-2779-FBC3-B7626B9797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791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74A5E-CADE-A71C-6FB7-3902BF61B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692B8-7C01-E987-C2D7-4ABDD5335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46E36-07A1-AD8F-44CE-1B210BFCE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Ranges differ by product: SH1014 is frozen (-18 to -15°C), SH1011 ambient (15 to 25°C), others 2 to 8°C or similar.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14A54-CB86-DF48-7F3A-F501F7E049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77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C20CC-FB9D-87DE-ED47-F600827BF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C5306D-232A-52CD-CD5E-50A3F75A6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7636A1-E35E-F5C1-53D2-5369A8833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Ranges differ by product: SH1014 is frozen (-18 to -15°C), SH1011 ambient (15 to 25°C), others 2 to 8°C or similar.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095C8-FF7E-FBCA-392A-210605D43C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561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COMMAND CENTRE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visibility into disruptions, shipment risk, fleet use and cold-chain integrity, with what-if simulation.</a:t>
            </a:r>
            <a:endParaRPr lang="en-US" sz="1800" dirty="0"/>
          </a:p>
        </p:txBody>
      </p:sp>
      <p:pic>
        <p:nvPicPr>
          <p:cNvPr id="5" name="Image 0" descr="/mnt/user-data/uploads/Screenshot_2026-09-18_221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874520"/>
            <a:ext cx="5577840" cy="2813626"/>
          </a:xfrm>
          <a:prstGeom prst="rect">
            <a:avLst/>
          </a:prstGeom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overview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for the health of the network</a:t>
            </a:r>
            <a:endParaRPr lang="en-US" sz="1600" dirty="0"/>
          </a:p>
        </p:txBody>
      </p:sp>
      <p:pic>
        <p:nvPicPr>
          <p:cNvPr id="4" name="Image 0" descr="/mnt/user-data/uploads/Screenshot_2026-09-18_221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7589520" cy="3828377"/>
          </a:xfrm>
          <a:prstGeom prst="rect">
            <a:avLst/>
          </a:prstGeom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412480" y="16916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595360" y="1801368"/>
            <a:ext cx="13258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2456993"/>
            <a:ext cx="13258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DISRUPTIONS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287000" y="16916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469880" y="1801368"/>
            <a:ext cx="13258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10469880" y="2456993"/>
            <a:ext cx="13258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SHIPMENTS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412480" y="3090672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595360" y="3200400"/>
            <a:ext cx="13258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3856025"/>
            <a:ext cx="13258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UTILISATION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287000" y="3090672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10469880" y="3200400"/>
            <a:ext cx="13258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10469880" y="3856025"/>
            <a:ext cx="13258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ASSETS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412480" y="4489704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595360" y="4599432"/>
            <a:ext cx="13258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0" y="5255057"/>
            <a:ext cx="13258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ALERTS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287000" y="4489704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0469880" y="4599432"/>
            <a:ext cx="13258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600" dirty="0"/>
          </a:p>
        </p:txBody>
      </p:sp>
      <p:sp>
        <p:nvSpPr>
          <p:cNvPr id="22" name="Text 19"/>
          <p:cNvSpPr txBox="1"/>
          <p:nvPr/>
        </p:nvSpPr>
        <p:spPr>
          <a:xfrm>
            <a:off x="10469880" y="5255057"/>
            <a:ext cx="13258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CRITICAL RISKS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overview pairs six headline KPIs with the active disruption list and the highest-risk shipments (for example SH1001, Mumbai to Delhi, cold chain, risk 100).</a:t>
            </a:r>
            <a:endParaRPr lang="en-US" sz="1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ABBBB56-1FC4-22FC-5C10-ED7A3DD9B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1" y="1461608"/>
            <a:ext cx="7741920" cy="42444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management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live events, ranked by severity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80960" y="1691640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818120" y="1929384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18120" y="19293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 Biparjoy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2103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Arabian Sea / Mumbai Port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80960" y="2569464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18120" y="2807208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18120" y="28072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823960" y="26609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JNPT Labour Strike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823960" y="29809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Nhava Sheva / JNPT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80960" y="3447288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818120" y="368503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818120" y="3685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3538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BlueLine Logistics Fleet Recall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3858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80960" y="4325112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818120" y="4562856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818120" y="45628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823960" y="4416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NH-48 Bridge Repair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823960" y="4736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Pune–Mumbai Highway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680960" y="5202936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818120" y="5440680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818120" y="5440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823960" y="5294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Hormuz Strait Shipping Advisory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823960" y="5614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Persian Gulf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440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shows type, affected routes, expiry and status (Active or Monitoring). Cyclone Biparjoy delays all vessels by 36 to 48 hours and severely disrupts road freight; the JNPT strike halts container handling.</a:t>
            </a:r>
            <a:endParaRPr lang="en-US" sz="13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B2CD0EE-194A-13F4-F563-86DC45FC5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05" y="1645343"/>
            <a:ext cx="6647255" cy="3776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impact analysis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shipment with status, delay and risk in one table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3375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828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views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6712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Shipments, Affected Only and Cold Chain filters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33375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31546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columns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49300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carrier, priority, status, delay (h), risk score and cold-chain flag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343400"/>
            <a:ext cx="33375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31520" y="4480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down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8188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columns and a Details action on every row</a:t>
            </a: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603F54E-0546-9A54-9F9F-D6B8DDDB5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381" y="1630268"/>
            <a:ext cx="7431273" cy="42218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Drilling into cold-chain shipments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table, then open a shipment for its detail and route advice</a:t>
            </a:r>
            <a:endParaRPr lang="en-US" sz="1600" dirty="0"/>
          </a:p>
        </p:txBody>
      </p:sp>
      <p:pic>
        <p:nvPicPr>
          <p:cNvPr id="4" name="Image 0" descr="/mnt/user-data/uploads/Screenshot_2026-09-18_2211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486400" cy="2767501"/>
          </a:xfrm>
          <a:prstGeom prst="rect">
            <a:avLst/>
          </a:prstGeom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pic>
      <p:pic>
        <p:nvPicPr>
          <p:cNvPr id="5" name="Image 1" descr="/mnt/user-data/uploads/Screenshot_2026-09-18_2210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1691640"/>
            <a:ext cx="5486400" cy="2767501"/>
          </a:xfrm>
          <a:prstGeom prst="rect">
            <a:avLst/>
          </a:prstGeom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548640" y="4733461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filter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099221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 loads sorted by status, so disrupted ones surface fast, such as SH1009 (+42h) and SH1024 (+54h).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153912" y="4733461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detail panel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153912" y="5099221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SH1014, Chennai to Bangalore, frozen foods: on time with low risk. The route recommendation reports no alternative route for this pair.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F61244-FE37-2B24-AEED-1BB1A1320B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1645920"/>
            <a:ext cx="5486400" cy="30861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6397D0-1F36-CE90-EA3A-B752CA09ED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618297"/>
            <a:ext cx="5483238" cy="3115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monitoring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excursions tracked per shipment against its allowed range</a:t>
            </a:r>
            <a:endParaRPr lang="en-US" sz="1600" dirty="0"/>
          </a:p>
        </p:txBody>
      </p:sp>
      <p:pic>
        <p:nvPicPr>
          <p:cNvPr id="4" name="Image 0" descr="/mnt/user-data/uploads/Screenshot_2026-09-18_2211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7589520" cy="3828377"/>
          </a:xfrm>
          <a:prstGeom prst="rect">
            <a:avLst/>
          </a:prstGeom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503920" y="1691640"/>
            <a:ext cx="1005840" cy="11887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686800" y="1801368"/>
            <a:ext cx="6400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2428646"/>
            <a:ext cx="640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601200" y="1691640"/>
            <a:ext cx="1005840" cy="11887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9784080" y="1801368"/>
            <a:ext cx="6400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9784080" y="2428646"/>
            <a:ext cx="640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698480" y="1691640"/>
            <a:ext cx="1005840" cy="11887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0881360" y="1801368"/>
            <a:ext cx="6400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10881360" y="2428646"/>
            <a:ext cx="640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503920" y="3108960"/>
            <a:ext cx="31546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686800" y="32461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0" y="361188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halt delivery if possible, review against handling requirements, escalate to quality and consignee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contact carrier and consider expedited delivery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7607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shows the current temperature, permitted range, excursion length and peak, for example SH1016: 240 min, peak 15.1°C.</a:t>
            </a: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3183295-7770-C449-2DE0-4A42964A4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" y="1330472"/>
            <a:ext cx="7650480" cy="43416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72AE0-55D5-8005-76EC-E9B7F30FF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D2761C-1AB0-9C49-FD46-00BDD5A77C3C}"/>
              </a:ext>
            </a:extLst>
          </p:cNvPr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Portal</a:t>
            </a:r>
            <a:endParaRPr lang="en-US" sz="36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F4EBB8D-6D18-B71B-4683-BE57FC8AACBF}"/>
              </a:ext>
            </a:extLst>
          </p:cNvPr>
          <p:cNvSpPr txBox="1"/>
          <p:nvPr/>
        </p:nvSpPr>
        <p:spPr>
          <a:xfrm>
            <a:off x="548640" y="57607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can submit the request for route change.</a:t>
            </a:r>
            <a:endParaRPr lang="en-US" sz="1300" dirty="0"/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93302A94-7662-DE75-8976-3B737C9D95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" name="AutoShape 6">
            <a:extLst>
              <a:ext uri="{FF2B5EF4-FFF2-40B4-BE49-F238E27FC236}">
                <a16:creationId xmlns:a16="http://schemas.microsoft.com/office/drawing/2014/main" id="{188E02A0-190F-CA45-CEAD-AB252CDDB6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B17A416E-63F6-9242-6B13-D16C85884A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9C8E627-DEC1-FF6E-D166-B411AC352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1076479"/>
            <a:ext cx="9080157" cy="458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52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B97A7-CC62-7C6C-7D35-D21477C0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03AB6A-6329-8D15-9989-4A27BFD7F1C3}"/>
              </a:ext>
            </a:extLst>
          </p:cNvPr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Portal</a:t>
            </a:r>
            <a:endParaRPr lang="en-US" sz="36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CE835BA-BAF2-101A-7C8E-8F7AE308E31F}"/>
              </a:ext>
            </a:extLst>
          </p:cNvPr>
          <p:cNvSpPr txBox="1"/>
          <p:nvPr/>
        </p:nvSpPr>
        <p:spPr>
          <a:xfrm>
            <a:off x="548640" y="57607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can submit the request for route change.</a:t>
            </a:r>
            <a:endParaRPr lang="en-US" sz="1300" dirty="0"/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83CC65CD-B99B-8042-5C6D-62113D6B7B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" name="AutoShape 6">
            <a:extLst>
              <a:ext uri="{FF2B5EF4-FFF2-40B4-BE49-F238E27FC236}">
                <a16:creationId xmlns:a16="http://schemas.microsoft.com/office/drawing/2014/main" id="{4DC2A1ED-52CA-D7A4-C398-A361214DFD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D7728B43-E104-753E-A103-DA846EBA25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563E5B6-F880-E02A-6F92-F97109B25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1076479"/>
            <a:ext cx="9080157" cy="45854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7C09C5-EC12-3C09-7350-2EC993F01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99" y="1127256"/>
            <a:ext cx="9080157" cy="458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234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0DFC0-A6A1-F5C9-DCA2-1297F01AE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FB59A1-3F79-B281-1832-43C9583960D4}"/>
              </a:ext>
            </a:extLst>
          </p:cNvPr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Portal</a:t>
            </a:r>
            <a:endParaRPr lang="en-US" sz="36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FD4CED3-CD79-63E2-3EA7-35BBF4548F7E}"/>
              </a:ext>
            </a:extLst>
          </p:cNvPr>
          <p:cNvSpPr txBox="1"/>
          <p:nvPr/>
        </p:nvSpPr>
        <p:spPr>
          <a:xfrm>
            <a:off x="495094" y="6153597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can also view his Progress in the timeline.</a:t>
            </a:r>
            <a:endParaRPr lang="en-US" sz="1300" dirty="0"/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5AB8F078-0BBD-0CFF-2913-7BB04E406C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" name="AutoShape 6">
            <a:extLst>
              <a:ext uri="{FF2B5EF4-FFF2-40B4-BE49-F238E27FC236}">
                <a16:creationId xmlns:a16="http://schemas.microsoft.com/office/drawing/2014/main" id="{A85E0E31-7A72-2C1B-7E8F-AC9BE30A16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25EC27D9-25BA-E583-6973-E9C17ECF7A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8ECAF0B-13F4-06A1-E3B2-1C79F8A23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1076479"/>
            <a:ext cx="9080157" cy="45854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1B12FB-8785-DA4A-CB35-D5E83A9DD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094" y="1076479"/>
            <a:ext cx="9473514" cy="479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4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708</Words>
  <Application>Microsoft Office PowerPoint</Application>
  <PresentationFormat>Widescreen</PresentationFormat>
  <Paragraphs>86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SupplyGuard – Supply Chain Command Centre</dc:title>
  <dc:subject>PptxGenJS Presentation</dc:subject>
  <dc:creator>PptxGenJS</dc:creator>
  <cp:lastModifiedBy>Johan Bhalsod</cp:lastModifiedBy>
  <cp:revision>4</cp:revision>
  <dcterms:created xsi:type="dcterms:W3CDTF">2026-09-18T16:45:20Z</dcterms:created>
  <dcterms:modified xsi:type="dcterms:W3CDTF">2026-09-19T09:18:00Z</dcterms:modified>
</cp:coreProperties>
</file>